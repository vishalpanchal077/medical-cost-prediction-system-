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7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61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64" r:id="rId22"/>
    <p:sldId id="26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611813-342E-4919-A879-262F237C940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C3E07C-FE9E-4066-AA97-BF57F18C1E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 is derived from the ETL pipeline after data extraction, transformation, and loading.</a:t>
          </a:r>
        </a:p>
      </dgm:t>
    </dgm:pt>
    <dgm:pt modelId="{EC7DE37F-CA75-4C5E-9669-3905B79B25C2}" type="parTrans" cxnId="{E9EDC52D-4EFF-4D65-AE5F-1A41737602FC}">
      <dgm:prSet/>
      <dgm:spPr/>
      <dgm:t>
        <a:bodyPr/>
        <a:lstStyle/>
        <a:p>
          <a:endParaRPr lang="en-US"/>
        </a:p>
      </dgm:t>
    </dgm:pt>
    <dgm:pt modelId="{D206D879-5A04-46C5-84C1-323A6F77182B}" type="sibTrans" cxnId="{E9EDC52D-4EFF-4D65-AE5F-1A41737602FC}">
      <dgm:prSet/>
      <dgm:spPr/>
      <dgm:t>
        <a:bodyPr/>
        <a:lstStyle/>
        <a:p>
          <a:endParaRPr lang="en-US"/>
        </a:p>
      </dgm:t>
    </dgm:pt>
    <dgm:pt modelId="{47C40CDA-8A00-4E7B-9428-ABED3F63C0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Cleaned and structured data is used for model building.</a:t>
          </a:r>
        </a:p>
      </dgm:t>
    </dgm:pt>
    <dgm:pt modelId="{4FAE939F-1468-4AC1-99EB-8B6077BB91CD}" type="parTrans" cxnId="{1864ED28-1680-4798-AF0F-58A761D4D886}">
      <dgm:prSet/>
      <dgm:spPr/>
      <dgm:t>
        <a:bodyPr/>
        <a:lstStyle/>
        <a:p>
          <a:endParaRPr lang="en-US"/>
        </a:p>
      </dgm:t>
    </dgm:pt>
    <dgm:pt modelId="{F586B523-39F3-40BB-9E92-8168E62CDCFF}" type="sibTrans" cxnId="{1864ED28-1680-4798-AF0F-58A761D4D886}">
      <dgm:prSet/>
      <dgm:spPr/>
      <dgm:t>
        <a:bodyPr/>
        <a:lstStyle/>
        <a:p>
          <a:endParaRPr lang="en-US"/>
        </a:p>
      </dgm:t>
    </dgm:pt>
    <dgm:pt modelId="{02D888D6-459C-4D7A-9D26-115F561F9F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Includes key features such as Age, BMI, Insurance, and Test Cost </a:t>
          </a:r>
        </a:p>
      </dgm:t>
    </dgm:pt>
    <dgm:pt modelId="{C2BBB58E-29B6-4237-BDF3-6BF9D979F748}" type="parTrans" cxnId="{13EFFE5E-69CE-4936-9564-B5681621E4F2}">
      <dgm:prSet/>
      <dgm:spPr/>
      <dgm:t>
        <a:bodyPr/>
        <a:lstStyle/>
        <a:p>
          <a:endParaRPr lang="en-US"/>
        </a:p>
      </dgm:t>
    </dgm:pt>
    <dgm:pt modelId="{72475E74-A011-4066-AA29-1C68B37661D2}" type="sibTrans" cxnId="{13EFFE5E-69CE-4936-9564-B5681621E4F2}">
      <dgm:prSet/>
      <dgm:spPr/>
      <dgm:t>
        <a:bodyPr/>
        <a:lstStyle/>
        <a:p>
          <a:endParaRPr lang="en-US"/>
        </a:p>
      </dgm:t>
    </dgm:pt>
    <dgm:pt modelId="{FC5A01EC-7AF5-458A-9985-F877C43CB0F4}" type="pres">
      <dgm:prSet presAssocID="{3B611813-342E-4919-A879-262F237C9403}" presName="root" presStyleCnt="0">
        <dgm:presLayoutVars>
          <dgm:dir/>
          <dgm:resizeHandles val="exact"/>
        </dgm:presLayoutVars>
      </dgm:prSet>
      <dgm:spPr/>
    </dgm:pt>
    <dgm:pt modelId="{182AEBDF-9C90-4FF1-AAD8-49CCADDC74AD}" type="pres">
      <dgm:prSet presAssocID="{0FC3E07C-FE9E-4066-AA97-BF57F18C1E14}" presName="compNode" presStyleCnt="0"/>
      <dgm:spPr/>
    </dgm:pt>
    <dgm:pt modelId="{CB350782-173D-49A4-B9A8-38F087F495DC}" type="pres">
      <dgm:prSet presAssocID="{0FC3E07C-FE9E-4066-AA97-BF57F18C1E14}" presName="bgRect" presStyleLbl="bgShp" presStyleIdx="0" presStyleCnt="3"/>
      <dgm:spPr/>
    </dgm:pt>
    <dgm:pt modelId="{1A0C0488-D52B-42BB-97A1-4BFDE189E810}" type="pres">
      <dgm:prSet presAssocID="{0FC3E07C-FE9E-4066-AA97-BF57F18C1E1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BC3D768-822F-4360-9917-A3123F5F1AB4}" type="pres">
      <dgm:prSet presAssocID="{0FC3E07C-FE9E-4066-AA97-BF57F18C1E14}" presName="spaceRect" presStyleCnt="0"/>
      <dgm:spPr/>
    </dgm:pt>
    <dgm:pt modelId="{9EEC3600-39BB-4890-8743-E443379940A7}" type="pres">
      <dgm:prSet presAssocID="{0FC3E07C-FE9E-4066-AA97-BF57F18C1E14}" presName="parTx" presStyleLbl="revTx" presStyleIdx="0" presStyleCnt="3">
        <dgm:presLayoutVars>
          <dgm:chMax val="0"/>
          <dgm:chPref val="0"/>
        </dgm:presLayoutVars>
      </dgm:prSet>
      <dgm:spPr/>
    </dgm:pt>
    <dgm:pt modelId="{29849CD3-D6B0-4377-87F1-E20ECA6E2539}" type="pres">
      <dgm:prSet presAssocID="{D206D879-5A04-46C5-84C1-323A6F77182B}" presName="sibTrans" presStyleCnt="0"/>
      <dgm:spPr/>
    </dgm:pt>
    <dgm:pt modelId="{C9027260-116B-460B-AB7D-D6EFFB449BBC}" type="pres">
      <dgm:prSet presAssocID="{47C40CDA-8A00-4E7B-9428-ABED3F63C0CB}" presName="compNode" presStyleCnt="0"/>
      <dgm:spPr/>
    </dgm:pt>
    <dgm:pt modelId="{68E9F39D-4D39-437F-B020-592DE61C561D}" type="pres">
      <dgm:prSet presAssocID="{47C40CDA-8A00-4E7B-9428-ABED3F63C0CB}" presName="bgRect" presStyleLbl="bgShp" presStyleIdx="1" presStyleCnt="3"/>
      <dgm:spPr/>
    </dgm:pt>
    <dgm:pt modelId="{D1CB1B9A-1C03-4D5B-A3F8-106C9E8F5499}" type="pres">
      <dgm:prSet presAssocID="{47C40CDA-8A00-4E7B-9428-ABED3F63C0C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B7945A33-E958-4839-8C17-4173983E75FC}" type="pres">
      <dgm:prSet presAssocID="{47C40CDA-8A00-4E7B-9428-ABED3F63C0CB}" presName="spaceRect" presStyleCnt="0"/>
      <dgm:spPr/>
    </dgm:pt>
    <dgm:pt modelId="{7CE7F2B3-20EE-47E1-A3E3-0FE6F9A5FF92}" type="pres">
      <dgm:prSet presAssocID="{47C40CDA-8A00-4E7B-9428-ABED3F63C0CB}" presName="parTx" presStyleLbl="revTx" presStyleIdx="1" presStyleCnt="3">
        <dgm:presLayoutVars>
          <dgm:chMax val="0"/>
          <dgm:chPref val="0"/>
        </dgm:presLayoutVars>
      </dgm:prSet>
      <dgm:spPr/>
    </dgm:pt>
    <dgm:pt modelId="{D21E6F9A-16B2-44DA-A0B4-44FD2119FA5A}" type="pres">
      <dgm:prSet presAssocID="{F586B523-39F3-40BB-9E92-8168E62CDCFF}" presName="sibTrans" presStyleCnt="0"/>
      <dgm:spPr/>
    </dgm:pt>
    <dgm:pt modelId="{7FB8659C-2AAE-411D-93D5-1F44E1A851B5}" type="pres">
      <dgm:prSet presAssocID="{02D888D6-459C-4D7A-9D26-115F561F9FAE}" presName="compNode" presStyleCnt="0"/>
      <dgm:spPr/>
    </dgm:pt>
    <dgm:pt modelId="{0A1E5729-E00E-4559-96D7-D177AE61B3F5}" type="pres">
      <dgm:prSet presAssocID="{02D888D6-459C-4D7A-9D26-115F561F9FAE}" presName="bgRect" presStyleLbl="bgShp" presStyleIdx="2" presStyleCnt="3"/>
      <dgm:spPr/>
    </dgm:pt>
    <dgm:pt modelId="{0DE99E04-6053-4009-8840-E1331ECCF766}" type="pres">
      <dgm:prSet presAssocID="{02D888D6-459C-4D7A-9D26-115F561F9FA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1422C18-C91D-47D5-8220-E0902460A2DF}" type="pres">
      <dgm:prSet presAssocID="{02D888D6-459C-4D7A-9D26-115F561F9FAE}" presName="spaceRect" presStyleCnt="0"/>
      <dgm:spPr/>
    </dgm:pt>
    <dgm:pt modelId="{DFC0DBD7-01CC-42BD-95DC-1A7BCC3E88AE}" type="pres">
      <dgm:prSet presAssocID="{02D888D6-459C-4D7A-9D26-115F561F9FA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F6AE24-0DC9-44C1-9CD4-E6BE6405B535}" type="presOf" srcId="{0FC3E07C-FE9E-4066-AA97-BF57F18C1E14}" destId="{9EEC3600-39BB-4890-8743-E443379940A7}" srcOrd="0" destOrd="0" presId="urn:microsoft.com/office/officeart/2018/2/layout/IconVerticalSolidList"/>
    <dgm:cxn modelId="{1864ED28-1680-4798-AF0F-58A761D4D886}" srcId="{3B611813-342E-4919-A879-262F237C9403}" destId="{47C40CDA-8A00-4E7B-9428-ABED3F63C0CB}" srcOrd="1" destOrd="0" parTransId="{4FAE939F-1468-4AC1-99EB-8B6077BB91CD}" sibTransId="{F586B523-39F3-40BB-9E92-8168E62CDCFF}"/>
    <dgm:cxn modelId="{E9EDC52D-4EFF-4D65-AE5F-1A41737602FC}" srcId="{3B611813-342E-4919-A879-262F237C9403}" destId="{0FC3E07C-FE9E-4066-AA97-BF57F18C1E14}" srcOrd="0" destOrd="0" parTransId="{EC7DE37F-CA75-4C5E-9669-3905B79B25C2}" sibTransId="{D206D879-5A04-46C5-84C1-323A6F77182B}"/>
    <dgm:cxn modelId="{13EFFE5E-69CE-4936-9564-B5681621E4F2}" srcId="{3B611813-342E-4919-A879-262F237C9403}" destId="{02D888D6-459C-4D7A-9D26-115F561F9FAE}" srcOrd="2" destOrd="0" parTransId="{C2BBB58E-29B6-4237-BDF3-6BF9D979F748}" sibTransId="{72475E74-A011-4066-AA29-1C68B37661D2}"/>
    <dgm:cxn modelId="{0B2C5381-EF04-4248-BC36-9CAE8D0DEFD9}" type="presOf" srcId="{3B611813-342E-4919-A879-262F237C9403}" destId="{FC5A01EC-7AF5-458A-9985-F877C43CB0F4}" srcOrd="0" destOrd="0" presId="urn:microsoft.com/office/officeart/2018/2/layout/IconVerticalSolidList"/>
    <dgm:cxn modelId="{7E4F7088-ABB1-48F3-8053-E602060CFA6B}" type="presOf" srcId="{47C40CDA-8A00-4E7B-9428-ABED3F63C0CB}" destId="{7CE7F2B3-20EE-47E1-A3E3-0FE6F9A5FF92}" srcOrd="0" destOrd="0" presId="urn:microsoft.com/office/officeart/2018/2/layout/IconVerticalSolidList"/>
    <dgm:cxn modelId="{4B7EB3A7-A6F8-4011-B143-39D397637EBC}" type="presOf" srcId="{02D888D6-459C-4D7A-9D26-115F561F9FAE}" destId="{DFC0DBD7-01CC-42BD-95DC-1A7BCC3E88AE}" srcOrd="0" destOrd="0" presId="urn:microsoft.com/office/officeart/2018/2/layout/IconVerticalSolidList"/>
    <dgm:cxn modelId="{F0184EE1-E940-46AD-9FA2-C9E52A5A6584}" type="presParOf" srcId="{FC5A01EC-7AF5-458A-9985-F877C43CB0F4}" destId="{182AEBDF-9C90-4FF1-AAD8-49CCADDC74AD}" srcOrd="0" destOrd="0" presId="urn:microsoft.com/office/officeart/2018/2/layout/IconVerticalSolidList"/>
    <dgm:cxn modelId="{C423CEA6-755E-43F5-AADA-15878740B344}" type="presParOf" srcId="{182AEBDF-9C90-4FF1-AAD8-49CCADDC74AD}" destId="{CB350782-173D-49A4-B9A8-38F087F495DC}" srcOrd="0" destOrd="0" presId="urn:microsoft.com/office/officeart/2018/2/layout/IconVerticalSolidList"/>
    <dgm:cxn modelId="{3AB37EF1-ECB5-4AAC-B3FD-C66199D0176B}" type="presParOf" srcId="{182AEBDF-9C90-4FF1-AAD8-49CCADDC74AD}" destId="{1A0C0488-D52B-42BB-97A1-4BFDE189E810}" srcOrd="1" destOrd="0" presId="urn:microsoft.com/office/officeart/2018/2/layout/IconVerticalSolidList"/>
    <dgm:cxn modelId="{8336A813-5C94-441F-B623-929596B89398}" type="presParOf" srcId="{182AEBDF-9C90-4FF1-AAD8-49CCADDC74AD}" destId="{0BC3D768-822F-4360-9917-A3123F5F1AB4}" srcOrd="2" destOrd="0" presId="urn:microsoft.com/office/officeart/2018/2/layout/IconVerticalSolidList"/>
    <dgm:cxn modelId="{8D837917-8812-45ED-A5C1-899561577E70}" type="presParOf" srcId="{182AEBDF-9C90-4FF1-AAD8-49CCADDC74AD}" destId="{9EEC3600-39BB-4890-8743-E443379940A7}" srcOrd="3" destOrd="0" presId="urn:microsoft.com/office/officeart/2018/2/layout/IconVerticalSolidList"/>
    <dgm:cxn modelId="{ACAEAC9B-5F35-47F3-94D6-A0EFBE6C73B8}" type="presParOf" srcId="{FC5A01EC-7AF5-458A-9985-F877C43CB0F4}" destId="{29849CD3-D6B0-4377-87F1-E20ECA6E2539}" srcOrd="1" destOrd="0" presId="urn:microsoft.com/office/officeart/2018/2/layout/IconVerticalSolidList"/>
    <dgm:cxn modelId="{84BE0EEF-6EFC-41BC-8206-181098F4E1F0}" type="presParOf" srcId="{FC5A01EC-7AF5-458A-9985-F877C43CB0F4}" destId="{C9027260-116B-460B-AB7D-D6EFFB449BBC}" srcOrd="2" destOrd="0" presId="urn:microsoft.com/office/officeart/2018/2/layout/IconVerticalSolidList"/>
    <dgm:cxn modelId="{8B1E287A-7365-4C59-85F8-6D0C80323846}" type="presParOf" srcId="{C9027260-116B-460B-AB7D-D6EFFB449BBC}" destId="{68E9F39D-4D39-437F-B020-592DE61C561D}" srcOrd="0" destOrd="0" presId="urn:microsoft.com/office/officeart/2018/2/layout/IconVerticalSolidList"/>
    <dgm:cxn modelId="{B4FD612F-67AC-4E7A-A952-78B55FA9B211}" type="presParOf" srcId="{C9027260-116B-460B-AB7D-D6EFFB449BBC}" destId="{D1CB1B9A-1C03-4D5B-A3F8-106C9E8F5499}" srcOrd="1" destOrd="0" presId="urn:microsoft.com/office/officeart/2018/2/layout/IconVerticalSolidList"/>
    <dgm:cxn modelId="{C683DF5A-5744-4D98-893A-F79647AA595A}" type="presParOf" srcId="{C9027260-116B-460B-AB7D-D6EFFB449BBC}" destId="{B7945A33-E958-4839-8C17-4173983E75FC}" srcOrd="2" destOrd="0" presId="urn:microsoft.com/office/officeart/2018/2/layout/IconVerticalSolidList"/>
    <dgm:cxn modelId="{619B6D57-C6CE-4588-BFF8-5B58D1D01D5E}" type="presParOf" srcId="{C9027260-116B-460B-AB7D-D6EFFB449BBC}" destId="{7CE7F2B3-20EE-47E1-A3E3-0FE6F9A5FF92}" srcOrd="3" destOrd="0" presId="urn:microsoft.com/office/officeart/2018/2/layout/IconVerticalSolidList"/>
    <dgm:cxn modelId="{D978F2A3-569D-42D1-BBB0-B05AB6A77705}" type="presParOf" srcId="{FC5A01EC-7AF5-458A-9985-F877C43CB0F4}" destId="{D21E6F9A-16B2-44DA-A0B4-44FD2119FA5A}" srcOrd="3" destOrd="0" presId="urn:microsoft.com/office/officeart/2018/2/layout/IconVerticalSolidList"/>
    <dgm:cxn modelId="{9372FA90-E801-42E1-82A6-FBCE4B07AA3F}" type="presParOf" srcId="{FC5A01EC-7AF5-458A-9985-F877C43CB0F4}" destId="{7FB8659C-2AAE-411D-93D5-1F44E1A851B5}" srcOrd="4" destOrd="0" presId="urn:microsoft.com/office/officeart/2018/2/layout/IconVerticalSolidList"/>
    <dgm:cxn modelId="{6475AACB-1700-43F4-9E82-13C164E8547C}" type="presParOf" srcId="{7FB8659C-2AAE-411D-93D5-1F44E1A851B5}" destId="{0A1E5729-E00E-4559-96D7-D177AE61B3F5}" srcOrd="0" destOrd="0" presId="urn:microsoft.com/office/officeart/2018/2/layout/IconVerticalSolidList"/>
    <dgm:cxn modelId="{EB18B5B2-D1D2-4614-A9C4-F550067B69E3}" type="presParOf" srcId="{7FB8659C-2AAE-411D-93D5-1F44E1A851B5}" destId="{0DE99E04-6053-4009-8840-E1331ECCF766}" srcOrd="1" destOrd="0" presId="urn:microsoft.com/office/officeart/2018/2/layout/IconVerticalSolidList"/>
    <dgm:cxn modelId="{763D3DC2-2992-45F3-A3FC-9D91E9B700EA}" type="presParOf" srcId="{7FB8659C-2AAE-411D-93D5-1F44E1A851B5}" destId="{51422C18-C91D-47D5-8220-E0902460A2DF}" srcOrd="2" destOrd="0" presId="urn:microsoft.com/office/officeart/2018/2/layout/IconVerticalSolidList"/>
    <dgm:cxn modelId="{8A4C5B32-958B-4355-83D1-BB5C81B8A295}" type="presParOf" srcId="{7FB8659C-2AAE-411D-93D5-1F44E1A851B5}" destId="{DFC0DBD7-01CC-42BD-95DC-1A7BCC3E88A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4EF76B-0BA6-4ED7-A435-96180DDB9C30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9A9D63E-BAF3-4684-A288-466F2B8AF15A}">
      <dgm:prSet/>
      <dgm:spPr/>
      <dgm:t>
        <a:bodyPr/>
        <a:lstStyle/>
        <a:p>
          <a:r>
            <a:rPr lang="en-US"/>
            <a:t>Identifies the most relevant independent variables influencing the target variable.</a:t>
          </a:r>
        </a:p>
      </dgm:t>
    </dgm:pt>
    <dgm:pt modelId="{51E0D255-46CE-4DF2-850B-AA3182DEF93A}" type="parTrans" cxnId="{D985A704-36A9-4E0D-B96E-0DB4D2CE33F3}">
      <dgm:prSet/>
      <dgm:spPr/>
      <dgm:t>
        <a:bodyPr/>
        <a:lstStyle/>
        <a:p>
          <a:endParaRPr lang="en-US"/>
        </a:p>
      </dgm:t>
    </dgm:pt>
    <dgm:pt modelId="{F0FAF50A-8FEB-4A37-91DA-074FC496B8F1}" type="sibTrans" cxnId="{D985A704-36A9-4E0D-B96E-0DB4D2CE33F3}">
      <dgm:prSet/>
      <dgm:spPr/>
      <dgm:t>
        <a:bodyPr/>
        <a:lstStyle/>
        <a:p>
          <a:endParaRPr lang="en-US"/>
        </a:p>
      </dgm:t>
    </dgm:pt>
    <dgm:pt modelId="{E63A66BC-36B7-4548-A7CE-A7C9982D6E6C}">
      <dgm:prSet/>
      <dgm:spPr/>
      <dgm:t>
        <a:bodyPr/>
        <a:lstStyle/>
        <a:p>
          <a:r>
            <a:rPr lang="en-US"/>
            <a:t>Highlights key features such as Test Cost, Insurance Covered, and BMI with higher impact.</a:t>
          </a:r>
        </a:p>
      </dgm:t>
    </dgm:pt>
    <dgm:pt modelId="{788CD29F-BBAA-425F-B00A-719C7ED92B29}" type="parTrans" cxnId="{BCFF36B2-2DA4-472E-AC9D-9483B0BA0254}">
      <dgm:prSet/>
      <dgm:spPr/>
      <dgm:t>
        <a:bodyPr/>
        <a:lstStyle/>
        <a:p>
          <a:endParaRPr lang="en-US"/>
        </a:p>
      </dgm:t>
    </dgm:pt>
    <dgm:pt modelId="{1F613E48-4B49-4362-91D5-CDB6A2AAF14E}" type="sibTrans" cxnId="{BCFF36B2-2DA4-472E-AC9D-9483B0BA0254}">
      <dgm:prSet/>
      <dgm:spPr/>
      <dgm:t>
        <a:bodyPr/>
        <a:lstStyle/>
        <a:p>
          <a:endParaRPr lang="en-US"/>
        </a:p>
      </dgm:t>
    </dgm:pt>
    <dgm:pt modelId="{529C5F90-0C82-4215-9045-FC4544BC36C0}">
      <dgm:prSet/>
      <dgm:spPr/>
      <dgm:t>
        <a:bodyPr/>
        <a:lstStyle/>
        <a:p>
          <a:r>
            <a:rPr lang="en-US"/>
            <a:t>Helps in improving model accuracy by focusing on significant predictors </a:t>
          </a:r>
        </a:p>
      </dgm:t>
    </dgm:pt>
    <dgm:pt modelId="{6E142202-9620-43C5-9B49-2F9B54E225E6}" type="parTrans" cxnId="{E93E6B3B-7380-41AC-A405-2EB9725EB135}">
      <dgm:prSet/>
      <dgm:spPr/>
      <dgm:t>
        <a:bodyPr/>
        <a:lstStyle/>
        <a:p>
          <a:endParaRPr lang="en-US"/>
        </a:p>
      </dgm:t>
    </dgm:pt>
    <dgm:pt modelId="{DF052801-2F59-479C-96D7-D84CD4329BBF}" type="sibTrans" cxnId="{E93E6B3B-7380-41AC-A405-2EB9725EB135}">
      <dgm:prSet/>
      <dgm:spPr/>
      <dgm:t>
        <a:bodyPr/>
        <a:lstStyle/>
        <a:p>
          <a:endParaRPr lang="en-US"/>
        </a:p>
      </dgm:t>
    </dgm:pt>
    <dgm:pt modelId="{D2F9101F-BA16-4D53-A2A9-E8A83AFBAF6A}" type="pres">
      <dgm:prSet presAssocID="{C04EF76B-0BA6-4ED7-A435-96180DDB9C30}" presName="linear" presStyleCnt="0">
        <dgm:presLayoutVars>
          <dgm:animLvl val="lvl"/>
          <dgm:resizeHandles val="exact"/>
        </dgm:presLayoutVars>
      </dgm:prSet>
      <dgm:spPr/>
    </dgm:pt>
    <dgm:pt modelId="{E07E57B2-D73A-473E-8457-6EF1FA5BCAF7}" type="pres">
      <dgm:prSet presAssocID="{59A9D63E-BAF3-4684-A288-466F2B8AF15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CE9A92D-3121-48D3-BCB9-800F539F3320}" type="pres">
      <dgm:prSet presAssocID="{F0FAF50A-8FEB-4A37-91DA-074FC496B8F1}" presName="spacer" presStyleCnt="0"/>
      <dgm:spPr/>
    </dgm:pt>
    <dgm:pt modelId="{55B4F104-48F3-48BA-8C7A-62D9C41F3978}" type="pres">
      <dgm:prSet presAssocID="{E63A66BC-36B7-4548-A7CE-A7C9982D6E6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5EBA975-C234-4790-B5DB-73E693F8AFCC}" type="pres">
      <dgm:prSet presAssocID="{1F613E48-4B49-4362-91D5-CDB6A2AAF14E}" presName="spacer" presStyleCnt="0"/>
      <dgm:spPr/>
    </dgm:pt>
    <dgm:pt modelId="{EC4DF75F-90EC-4DB7-9458-A7A7E80F4CCE}" type="pres">
      <dgm:prSet presAssocID="{529C5F90-0C82-4215-9045-FC4544BC36C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CB9E101-E41E-4D44-9ECF-5A483720E270}" type="presOf" srcId="{C04EF76B-0BA6-4ED7-A435-96180DDB9C30}" destId="{D2F9101F-BA16-4D53-A2A9-E8A83AFBAF6A}" srcOrd="0" destOrd="0" presId="urn:microsoft.com/office/officeart/2005/8/layout/vList2"/>
    <dgm:cxn modelId="{D985A704-36A9-4E0D-B96E-0DB4D2CE33F3}" srcId="{C04EF76B-0BA6-4ED7-A435-96180DDB9C30}" destId="{59A9D63E-BAF3-4684-A288-466F2B8AF15A}" srcOrd="0" destOrd="0" parTransId="{51E0D255-46CE-4DF2-850B-AA3182DEF93A}" sibTransId="{F0FAF50A-8FEB-4A37-91DA-074FC496B8F1}"/>
    <dgm:cxn modelId="{560F993A-B816-46D1-8B50-5841A7325EEC}" type="presOf" srcId="{E63A66BC-36B7-4548-A7CE-A7C9982D6E6C}" destId="{55B4F104-48F3-48BA-8C7A-62D9C41F3978}" srcOrd="0" destOrd="0" presId="urn:microsoft.com/office/officeart/2005/8/layout/vList2"/>
    <dgm:cxn modelId="{E93E6B3B-7380-41AC-A405-2EB9725EB135}" srcId="{C04EF76B-0BA6-4ED7-A435-96180DDB9C30}" destId="{529C5F90-0C82-4215-9045-FC4544BC36C0}" srcOrd="2" destOrd="0" parTransId="{6E142202-9620-43C5-9B49-2F9B54E225E6}" sibTransId="{DF052801-2F59-479C-96D7-D84CD4329BBF}"/>
    <dgm:cxn modelId="{00397E68-1F2A-49AF-9B64-2FA80A40ED81}" type="presOf" srcId="{529C5F90-0C82-4215-9045-FC4544BC36C0}" destId="{EC4DF75F-90EC-4DB7-9458-A7A7E80F4CCE}" srcOrd="0" destOrd="0" presId="urn:microsoft.com/office/officeart/2005/8/layout/vList2"/>
    <dgm:cxn modelId="{BCFF36B2-2DA4-472E-AC9D-9483B0BA0254}" srcId="{C04EF76B-0BA6-4ED7-A435-96180DDB9C30}" destId="{E63A66BC-36B7-4548-A7CE-A7C9982D6E6C}" srcOrd="1" destOrd="0" parTransId="{788CD29F-BBAA-425F-B00A-719C7ED92B29}" sibTransId="{1F613E48-4B49-4362-91D5-CDB6A2AAF14E}"/>
    <dgm:cxn modelId="{A2F98FFA-D407-4C0B-A19A-1B285E6CB43D}" type="presOf" srcId="{59A9D63E-BAF3-4684-A288-466F2B8AF15A}" destId="{E07E57B2-D73A-473E-8457-6EF1FA5BCAF7}" srcOrd="0" destOrd="0" presId="urn:microsoft.com/office/officeart/2005/8/layout/vList2"/>
    <dgm:cxn modelId="{44D1309C-F500-4406-86B6-ED6F2AB3B4EA}" type="presParOf" srcId="{D2F9101F-BA16-4D53-A2A9-E8A83AFBAF6A}" destId="{E07E57B2-D73A-473E-8457-6EF1FA5BCAF7}" srcOrd="0" destOrd="0" presId="urn:microsoft.com/office/officeart/2005/8/layout/vList2"/>
    <dgm:cxn modelId="{0A82A706-1AFD-4B39-9276-BF1285C3D20B}" type="presParOf" srcId="{D2F9101F-BA16-4D53-A2A9-E8A83AFBAF6A}" destId="{0CE9A92D-3121-48D3-BCB9-800F539F3320}" srcOrd="1" destOrd="0" presId="urn:microsoft.com/office/officeart/2005/8/layout/vList2"/>
    <dgm:cxn modelId="{0AC343AC-85FE-4F75-B214-60DE4C58A8D6}" type="presParOf" srcId="{D2F9101F-BA16-4D53-A2A9-E8A83AFBAF6A}" destId="{55B4F104-48F3-48BA-8C7A-62D9C41F3978}" srcOrd="2" destOrd="0" presId="urn:microsoft.com/office/officeart/2005/8/layout/vList2"/>
    <dgm:cxn modelId="{D4FF1707-FBAF-4599-AE04-0FB1E6EA9465}" type="presParOf" srcId="{D2F9101F-BA16-4D53-A2A9-E8A83AFBAF6A}" destId="{75EBA975-C234-4790-B5DB-73E693F8AFCC}" srcOrd="3" destOrd="0" presId="urn:microsoft.com/office/officeart/2005/8/layout/vList2"/>
    <dgm:cxn modelId="{17C88CA5-2CC7-4486-97AC-906C0FCA18EC}" type="presParOf" srcId="{D2F9101F-BA16-4D53-A2A9-E8A83AFBAF6A}" destId="{EC4DF75F-90EC-4DB7-9458-A7A7E80F4CC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13C7A0-9455-4120-915B-CB97301538A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4157B1-8CFF-469D-9B4D-1CB51BAE4D2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We appreciate your time and attention .</a:t>
          </a:r>
          <a:endParaRPr lang="en-US" dirty="0"/>
        </a:p>
      </dgm:t>
    </dgm:pt>
    <dgm:pt modelId="{B4FDA30B-6AEA-4E11-A94A-A02E30B0A6FE}" type="parTrans" cxnId="{34B3C961-C572-44E8-A682-22CF1DA058A7}">
      <dgm:prSet/>
      <dgm:spPr/>
      <dgm:t>
        <a:bodyPr/>
        <a:lstStyle/>
        <a:p>
          <a:endParaRPr lang="en-US"/>
        </a:p>
      </dgm:t>
    </dgm:pt>
    <dgm:pt modelId="{394348D9-BD5B-46BD-A803-47195259639B}" type="sibTrans" cxnId="{34B3C961-C572-44E8-A682-22CF1DA058A7}">
      <dgm:prSet/>
      <dgm:spPr/>
      <dgm:t>
        <a:bodyPr/>
        <a:lstStyle/>
        <a:p>
          <a:endParaRPr lang="en-US"/>
        </a:p>
      </dgm:t>
    </dgm:pt>
    <dgm:pt modelId="{01C68A1F-ACC4-42F9-B21D-7A819B42040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For any question or suggestion , feel </a:t>
          </a:r>
          <a:r>
            <a:rPr lang="en-IN" dirty="0" err="1"/>
            <a:t>fre</a:t>
          </a:r>
          <a:r>
            <a:rPr lang="en-IN" dirty="0"/>
            <a:t> to reach out .</a:t>
          </a:r>
          <a:endParaRPr lang="en-US" dirty="0"/>
        </a:p>
      </dgm:t>
    </dgm:pt>
    <dgm:pt modelId="{B16F956E-F9CB-403D-9CE6-B93CEB50B54E}" type="parTrans" cxnId="{C0837D3B-5228-4C7D-8D75-44BF42E872B9}">
      <dgm:prSet/>
      <dgm:spPr/>
      <dgm:t>
        <a:bodyPr/>
        <a:lstStyle/>
        <a:p>
          <a:endParaRPr lang="en-US"/>
        </a:p>
      </dgm:t>
    </dgm:pt>
    <dgm:pt modelId="{32AF67BA-9A2C-4241-B4F4-01682DB02D92}" type="sibTrans" cxnId="{C0837D3B-5228-4C7D-8D75-44BF42E872B9}">
      <dgm:prSet/>
      <dgm:spPr/>
      <dgm:t>
        <a:bodyPr/>
        <a:lstStyle/>
        <a:p>
          <a:endParaRPr lang="en-US"/>
        </a:p>
      </dgm:t>
    </dgm:pt>
    <dgm:pt modelId="{E54D4FCE-A13D-4E58-B2C1-6FD7352E6294}" type="pres">
      <dgm:prSet presAssocID="{D613C7A0-9455-4120-915B-CB97301538A8}" presName="root" presStyleCnt="0">
        <dgm:presLayoutVars>
          <dgm:dir/>
          <dgm:resizeHandles val="exact"/>
        </dgm:presLayoutVars>
      </dgm:prSet>
      <dgm:spPr/>
    </dgm:pt>
    <dgm:pt modelId="{630DCBCA-1D34-4BC6-93D3-AF720B345770}" type="pres">
      <dgm:prSet presAssocID="{FA4157B1-8CFF-469D-9B4D-1CB51BAE4D23}" presName="compNode" presStyleCnt="0"/>
      <dgm:spPr/>
    </dgm:pt>
    <dgm:pt modelId="{7920ADDD-C694-4477-9D81-5014A9D45E44}" type="pres">
      <dgm:prSet presAssocID="{FA4157B1-8CFF-469D-9B4D-1CB51BAE4D23}" presName="bgRect" presStyleLbl="bgShp" presStyleIdx="0" presStyleCnt="2"/>
      <dgm:spPr/>
    </dgm:pt>
    <dgm:pt modelId="{ED962ACE-95D5-4B77-A5AB-8B724FA32BDD}" type="pres">
      <dgm:prSet presAssocID="{FA4157B1-8CFF-469D-9B4D-1CB51BAE4D2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63E1A8F-A546-40CC-A71E-52CCBE076AC2}" type="pres">
      <dgm:prSet presAssocID="{FA4157B1-8CFF-469D-9B4D-1CB51BAE4D23}" presName="spaceRect" presStyleCnt="0"/>
      <dgm:spPr/>
    </dgm:pt>
    <dgm:pt modelId="{3E8AAE9F-2ABC-49A6-9C11-A0A4B092079A}" type="pres">
      <dgm:prSet presAssocID="{FA4157B1-8CFF-469D-9B4D-1CB51BAE4D23}" presName="parTx" presStyleLbl="revTx" presStyleIdx="0" presStyleCnt="2">
        <dgm:presLayoutVars>
          <dgm:chMax val="0"/>
          <dgm:chPref val="0"/>
        </dgm:presLayoutVars>
      </dgm:prSet>
      <dgm:spPr/>
    </dgm:pt>
    <dgm:pt modelId="{7984D388-6410-46EE-B215-B2D1A766CAF4}" type="pres">
      <dgm:prSet presAssocID="{394348D9-BD5B-46BD-A803-47195259639B}" presName="sibTrans" presStyleCnt="0"/>
      <dgm:spPr/>
    </dgm:pt>
    <dgm:pt modelId="{4AF1184F-C1FD-4DAB-B6F9-B826D26FF43B}" type="pres">
      <dgm:prSet presAssocID="{01C68A1F-ACC4-42F9-B21D-7A819B42040C}" presName="compNode" presStyleCnt="0"/>
      <dgm:spPr/>
    </dgm:pt>
    <dgm:pt modelId="{F8E1DFCD-753E-446F-9F28-137EC2DFC43A}" type="pres">
      <dgm:prSet presAssocID="{01C68A1F-ACC4-42F9-B21D-7A819B42040C}" presName="bgRect" presStyleLbl="bgShp" presStyleIdx="1" presStyleCnt="2"/>
      <dgm:spPr/>
    </dgm:pt>
    <dgm:pt modelId="{726EFE8A-7A92-4FB7-B739-92AA3929AD18}" type="pres">
      <dgm:prSet presAssocID="{01C68A1F-ACC4-42F9-B21D-7A819B42040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4A67DC36-9D4F-439A-BAD9-F83F0E155340}" type="pres">
      <dgm:prSet presAssocID="{01C68A1F-ACC4-42F9-B21D-7A819B42040C}" presName="spaceRect" presStyleCnt="0"/>
      <dgm:spPr/>
    </dgm:pt>
    <dgm:pt modelId="{F43293EA-15A8-4CD8-8DE6-41067E1CFF5D}" type="pres">
      <dgm:prSet presAssocID="{01C68A1F-ACC4-42F9-B21D-7A819B42040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0837D3B-5228-4C7D-8D75-44BF42E872B9}" srcId="{D613C7A0-9455-4120-915B-CB97301538A8}" destId="{01C68A1F-ACC4-42F9-B21D-7A819B42040C}" srcOrd="1" destOrd="0" parTransId="{B16F956E-F9CB-403D-9CE6-B93CEB50B54E}" sibTransId="{32AF67BA-9A2C-4241-B4F4-01682DB02D92}"/>
    <dgm:cxn modelId="{B2432C5E-180F-45ED-9BA8-2ED3CBB0EC8A}" type="presOf" srcId="{FA4157B1-8CFF-469D-9B4D-1CB51BAE4D23}" destId="{3E8AAE9F-2ABC-49A6-9C11-A0A4B092079A}" srcOrd="0" destOrd="0" presId="urn:microsoft.com/office/officeart/2018/2/layout/IconVerticalSolidList"/>
    <dgm:cxn modelId="{34B3C961-C572-44E8-A682-22CF1DA058A7}" srcId="{D613C7A0-9455-4120-915B-CB97301538A8}" destId="{FA4157B1-8CFF-469D-9B4D-1CB51BAE4D23}" srcOrd="0" destOrd="0" parTransId="{B4FDA30B-6AEA-4E11-A94A-A02E30B0A6FE}" sibTransId="{394348D9-BD5B-46BD-A803-47195259639B}"/>
    <dgm:cxn modelId="{3EE89242-D26F-4474-8BE5-57ADE47A3532}" type="presOf" srcId="{D613C7A0-9455-4120-915B-CB97301538A8}" destId="{E54D4FCE-A13D-4E58-B2C1-6FD7352E6294}" srcOrd="0" destOrd="0" presId="urn:microsoft.com/office/officeart/2018/2/layout/IconVerticalSolidList"/>
    <dgm:cxn modelId="{5D4C7BF6-D0DB-4BE0-92AC-0A671D33105E}" type="presOf" srcId="{01C68A1F-ACC4-42F9-B21D-7A819B42040C}" destId="{F43293EA-15A8-4CD8-8DE6-41067E1CFF5D}" srcOrd="0" destOrd="0" presId="urn:microsoft.com/office/officeart/2018/2/layout/IconVerticalSolidList"/>
    <dgm:cxn modelId="{7D72F049-B36C-4B53-B6A3-90DE1B70A03A}" type="presParOf" srcId="{E54D4FCE-A13D-4E58-B2C1-6FD7352E6294}" destId="{630DCBCA-1D34-4BC6-93D3-AF720B345770}" srcOrd="0" destOrd="0" presId="urn:microsoft.com/office/officeart/2018/2/layout/IconVerticalSolidList"/>
    <dgm:cxn modelId="{150F5819-ED3A-4018-A042-136658A9AD93}" type="presParOf" srcId="{630DCBCA-1D34-4BC6-93D3-AF720B345770}" destId="{7920ADDD-C694-4477-9D81-5014A9D45E44}" srcOrd="0" destOrd="0" presId="urn:microsoft.com/office/officeart/2018/2/layout/IconVerticalSolidList"/>
    <dgm:cxn modelId="{1ABC0A3C-6AE8-4976-823B-292DDE1016F5}" type="presParOf" srcId="{630DCBCA-1D34-4BC6-93D3-AF720B345770}" destId="{ED962ACE-95D5-4B77-A5AB-8B724FA32BDD}" srcOrd="1" destOrd="0" presId="urn:microsoft.com/office/officeart/2018/2/layout/IconVerticalSolidList"/>
    <dgm:cxn modelId="{2FA311B7-B0DE-4AD4-A435-769C9072F995}" type="presParOf" srcId="{630DCBCA-1D34-4BC6-93D3-AF720B345770}" destId="{A63E1A8F-A546-40CC-A71E-52CCBE076AC2}" srcOrd="2" destOrd="0" presId="urn:microsoft.com/office/officeart/2018/2/layout/IconVerticalSolidList"/>
    <dgm:cxn modelId="{E13D9317-AF54-4C6C-82A6-6B49E99B50ED}" type="presParOf" srcId="{630DCBCA-1D34-4BC6-93D3-AF720B345770}" destId="{3E8AAE9F-2ABC-49A6-9C11-A0A4B092079A}" srcOrd="3" destOrd="0" presId="urn:microsoft.com/office/officeart/2018/2/layout/IconVerticalSolidList"/>
    <dgm:cxn modelId="{A821FE74-7785-48B7-AD00-5F2980FA04D4}" type="presParOf" srcId="{E54D4FCE-A13D-4E58-B2C1-6FD7352E6294}" destId="{7984D388-6410-46EE-B215-B2D1A766CAF4}" srcOrd="1" destOrd="0" presId="urn:microsoft.com/office/officeart/2018/2/layout/IconVerticalSolidList"/>
    <dgm:cxn modelId="{988A7D6F-2EF4-41F1-A0FA-4490614AE224}" type="presParOf" srcId="{E54D4FCE-A13D-4E58-B2C1-6FD7352E6294}" destId="{4AF1184F-C1FD-4DAB-B6F9-B826D26FF43B}" srcOrd="2" destOrd="0" presId="urn:microsoft.com/office/officeart/2018/2/layout/IconVerticalSolidList"/>
    <dgm:cxn modelId="{E8D0D043-D965-4013-AF20-066A09C19C74}" type="presParOf" srcId="{4AF1184F-C1FD-4DAB-B6F9-B826D26FF43B}" destId="{F8E1DFCD-753E-446F-9F28-137EC2DFC43A}" srcOrd="0" destOrd="0" presId="urn:microsoft.com/office/officeart/2018/2/layout/IconVerticalSolidList"/>
    <dgm:cxn modelId="{30E5B348-91D0-49C8-A412-A9AD11D86633}" type="presParOf" srcId="{4AF1184F-C1FD-4DAB-B6F9-B826D26FF43B}" destId="{726EFE8A-7A92-4FB7-B739-92AA3929AD18}" srcOrd="1" destOrd="0" presId="urn:microsoft.com/office/officeart/2018/2/layout/IconVerticalSolidList"/>
    <dgm:cxn modelId="{56B84686-7F49-4318-93E0-5AD86CCE9F0E}" type="presParOf" srcId="{4AF1184F-C1FD-4DAB-B6F9-B826D26FF43B}" destId="{4A67DC36-9D4F-439A-BAD9-F83F0E155340}" srcOrd="2" destOrd="0" presId="urn:microsoft.com/office/officeart/2018/2/layout/IconVerticalSolidList"/>
    <dgm:cxn modelId="{DA49F010-B3FD-4D6B-9C24-99C1B412C47D}" type="presParOf" srcId="{4AF1184F-C1FD-4DAB-B6F9-B826D26FF43B}" destId="{F43293EA-15A8-4CD8-8DE6-41067E1CFF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350782-173D-49A4-B9A8-38F087F495DC}">
      <dsp:nvSpPr>
        <dsp:cNvPr id="0" name=""/>
        <dsp:cNvSpPr/>
      </dsp:nvSpPr>
      <dsp:spPr>
        <a:xfrm>
          <a:off x="0" y="503"/>
          <a:ext cx="5558489" cy="11778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0C0488-D52B-42BB-97A1-4BFDE189E810}">
      <dsp:nvSpPr>
        <dsp:cNvPr id="0" name=""/>
        <dsp:cNvSpPr/>
      </dsp:nvSpPr>
      <dsp:spPr>
        <a:xfrm>
          <a:off x="356303" y="265522"/>
          <a:ext cx="647824" cy="6478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C3600-39BB-4890-8743-E443379940A7}">
      <dsp:nvSpPr>
        <dsp:cNvPr id="0" name=""/>
        <dsp:cNvSpPr/>
      </dsp:nvSpPr>
      <dsp:spPr>
        <a:xfrm>
          <a:off x="1360431" y="503"/>
          <a:ext cx="4198057" cy="117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657" tIns="124657" rIns="124657" bIns="1246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Dataset is derived from the ETL pipeline after data extraction, transformation, and loading.</a:t>
          </a:r>
        </a:p>
      </dsp:txBody>
      <dsp:txXfrm>
        <a:off x="1360431" y="503"/>
        <a:ext cx="4198057" cy="1177862"/>
      </dsp:txXfrm>
    </dsp:sp>
    <dsp:sp modelId="{68E9F39D-4D39-437F-B020-592DE61C561D}">
      <dsp:nvSpPr>
        <dsp:cNvPr id="0" name=""/>
        <dsp:cNvSpPr/>
      </dsp:nvSpPr>
      <dsp:spPr>
        <a:xfrm>
          <a:off x="0" y="1472831"/>
          <a:ext cx="5558489" cy="11778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CB1B9A-1C03-4D5B-A3F8-106C9E8F5499}">
      <dsp:nvSpPr>
        <dsp:cNvPr id="0" name=""/>
        <dsp:cNvSpPr/>
      </dsp:nvSpPr>
      <dsp:spPr>
        <a:xfrm>
          <a:off x="356303" y="1737850"/>
          <a:ext cx="647824" cy="6478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E7F2B3-20EE-47E1-A3E3-0FE6F9A5FF92}">
      <dsp:nvSpPr>
        <dsp:cNvPr id="0" name=""/>
        <dsp:cNvSpPr/>
      </dsp:nvSpPr>
      <dsp:spPr>
        <a:xfrm>
          <a:off x="1360431" y="1472831"/>
          <a:ext cx="4198057" cy="117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657" tIns="124657" rIns="124657" bIns="1246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Cleaned and structured data is used for model building.</a:t>
          </a:r>
        </a:p>
      </dsp:txBody>
      <dsp:txXfrm>
        <a:off x="1360431" y="1472831"/>
        <a:ext cx="4198057" cy="1177862"/>
      </dsp:txXfrm>
    </dsp:sp>
    <dsp:sp modelId="{0A1E5729-E00E-4559-96D7-D177AE61B3F5}">
      <dsp:nvSpPr>
        <dsp:cNvPr id="0" name=""/>
        <dsp:cNvSpPr/>
      </dsp:nvSpPr>
      <dsp:spPr>
        <a:xfrm>
          <a:off x="0" y="2945159"/>
          <a:ext cx="5558489" cy="11778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E99E04-6053-4009-8840-E1331ECCF766}">
      <dsp:nvSpPr>
        <dsp:cNvPr id="0" name=""/>
        <dsp:cNvSpPr/>
      </dsp:nvSpPr>
      <dsp:spPr>
        <a:xfrm>
          <a:off x="356303" y="3210178"/>
          <a:ext cx="647824" cy="6478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0DBD7-01CC-42BD-95DC-1A7BCC3E88AE}">
      <dsp:nvSpPr>
        <dsp:cNvPr id="0" name=""/>
        <dsp:cNvSpPr/>
      </dsp:nvSpPr>
      <dsp:spPr>
        <a:xfrm>
          <a:off x="1360431" y="2945159"/>
          <a:ext cx="4198057" cy="117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657" tIns="124657" rIns="124657" bIns="1246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Includes key features such as Age, BMI, Insurance, and Test Cost </a:t>
          </a:r>
        </a:p>
      </dsp:txBody>
      <dsp:txXfrm>
        <a:off x="1360431" y="2945159"/>
        <a:ext cx="4198057" cy="1177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E57B2-D73A-473E-8457-6EF1FA5BCAF7}">
      <dsp:nvSpPr>
        <dsp:cNvPr id="0" name=""/>
        <dsp:cNvSpPr/>
      </dsp:nvSpPr>
      <dsp:spPr>
        <a:xfrm>
          <a:off x="0" y="27060"/>
          <a:ext cx="4530898" cy="115478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Identifies the most relevant independent variables influencing the target variable.</a:t>
          </a:r>
        </a:p>
      </dsp:txBody>
      <dsp:txXfrm>
        <a:off x="56372" y="83432"/>
        <a:ext cx="4418154" cy="1042045"/>
      </dsp:txXfrm>
    </dsp:sp>
    <dsp:sp modelId="{55B4F104-48F3-48BA-8C7A-62D9C41F3978}">
      <dsp:nvSpPr>
        <dsp:cNvPr id="0" name=""/>
        <dsp:cNvSpPr/>
      </dsp:nvSpPr>
      <dsp:spPr>
        <a:xfrm>
          <a:off x="0" y="1242330"/>
          <a:ext cx="4530898" cy="115478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Highlights key features such as Test Cost, Insurance Covered, and BMI with higher impact.</a:t>
          </a:r>
        </a:p>
      </dsp:txBody>
      <dsp:txXfrm>
        <a:off x="56372" y="1298702"/>
        <a:ext cx="4418154" cy="1042045"/>
      </dsp:txXfrm>
    </dsp:sp>
    <dsp:sp modelId="{EC4DF75F-90EC-4DB7-9458-A7A7E80F4CCE}">
      <dsp:nvSpPr>
        <dsp:cNvPr id="0" name=""/>
        <dsp:cNvSpPr/>
      </dsp:nvSpPr>
      <dsp:spPr>
        <a:xfrm>
          <a:off x="0" y="2457600"/>
          <a:ext cx="4530898" cy="115478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Helps in improving model accuracy by focusing on significant predictors </a:t>
          </a:r>
        </a:p>
      </dsp:txBody>
      <dsp:txXfrm>
        <a:off x="56372" y="2513972"/>
        <a:ext cx="4418154" cy="10420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20ADDD-C694-4477-9D81-5014A9D45E44}">
      <dsp:nvSpPr>
        <dsp:cNvPr id="0" name=""/>
        <dsp:cNvSpPr/>
      </dsp:nvSpPr>
      <dsp:spPr>
        <a:xfrm>
          <a:off x="0" y="907663"/>
          <a:ext cx="6906491" cy="16756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962ACE-95D5-4B77-A5AB-8B724FA32BDD}">
      <dsp:nvSpPr>
        <dsp:cNvPr id="0" name=""/>
        <dsp:cNvSpPr/>
      </dsp:nvSpPr>
      <dsp:spPr>
        <a:xfrm>
          <a:off x="506894" y="1284692"/>
          <a:ext cx="921627" cy="921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AAE9F-2ABC-49A6-9C11-A0A4B092079A}">
      <dsp:nvSpPr>
        <dsp:cNvPr id="0" name=""/>
        <dsp:cNvSpPr/>
      </dsp:nvSpPr>
      <dsp:spPr>
        <a:xfrm>
          <a:off x="1935416" y="907663"/>
          <a:ext cx="4971074" cy="1675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343" tIns="177343" rIns="177343" bIns="17734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We appreciate your time and attention .</a:t>
          </a:r>
          <a:endParaRPr lang="en-US" sz="2500" kern="1200" dirty="0"/>
        </a:p>
      </dsp:txBody>
      <dsp:txXfrm>
        <a:off x="1935416" y="907663"/>
        <a:ext cx="4971074" cy="1675685"/>
      </dsp:txXfrm>
    </dsp:sp>
    <dsp:sp modelId="{F8E1DFCD-753E-446F-9F28-137EC2DFC43A}">
      <dsp:nvSpPr>
        <dsp:cNvPr id="0" name=""/>
        <dsp:cNvSpPr/>
      </dsp:nvSpPr>
      <dsp:spPr>
        <a:xfrm>
          <a:off x="0" y="3002270"/>
          <a:ext cx="6906491" cy="16756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6EFE8A-7A92-4FB7-B739-92AA3929AD18}">
      <dsp:nvSpPr>
        <dsp:cNvPr id="0" name=""/>
        <dsp:cNvSpPr/>
      </dsp:nvSpPr>
      <dsp:spPr>
        <a:xfrm>
          <a:off x="506894" y="3379299"/>
          <a:ext cx="921627" cy="921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293EA-15A8-4CD8-8DE6-41067E1CFF5D}">
      <dsp:nvSpPr>
        <dsp:cNvPr id="0" name=""/>
        <dsp:cNvSpPr/>
      </dsp:nvSpPr>
      <dsp:spPr>
        <a:xfrm>
          <a:off x="1935416" y="3002270"/>
          <a:ext cx="4971074" cy="1675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343" tIns="177343" rIns="177343" bIns="17734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For any question or suggestion , feel </a:t>
          </a:r>
          <a:r>
            <a:rPr lang="en-IN" sz="2500" kern="1200" dirty="0" err="1"/>
            <a:t>fre</a:t>
          </a:r>
          <a:r>
            <a:rPr lang="en-IN" sz="2500" kern="1200" dirty="0"/>
            <a:t> to reach out .</a:t>
          </a:r>
          <a:endParaRPr lang="en-US" sz="2500" kern="1200" dirty="0"/>
        </a:p>
      </dsp:txBody>
      <dsp:txXfrm>
        <a:off x="1935416" y="3002270"/>
        <a:ext cx="4971074" cy="16756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E4856C-C666-456F-B0EC-A13CEE49060B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B97143-6560-4999-BD21-3D87B61AA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464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97143-6560-4999-BD21-3D87B61AA74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807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3762C6-1839-AEF6-7D1F-FFC7F7E3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96" y="217932"/>
            <a:ext cx="5062782" cy="1606506"/>
          </a:xfrm>
        </p:spPr>
        <p:txBody>
          <a:bodyPr anchor="ctr">
            <a:normAutofit/>
          </a:bodyPr>
          <a:lstStyle/>
          <a:p>
            <a:r>
              <a:rPr lang="en-US" sz="3200" b="1" dirty="0">
                <a:latin typeface="Algerian" panose="04020705040A02060702" pitchFamily="82" charset="0"/>
              </a:rPr>
              <a:t>HEALTHCARE </a:t>
            </a:r>
            <a:r>
              <a:rPr lang="en-US" sz="3200" b="1" dirty="0" err="1">
                <a:latin typeface="Algerian" panose="04020705040A02060702" pitchFamily="82" charset="0"/>
              </a:rPr>
              <a:t>aNALYTIC</a:t>
            </a:r>
            <a:r>
              <a:rPr lang="en-US" sz="3200" b="1" dirty="0">
                <a:latin typeface="Algerian" panose="04020705040A02060702" pitchFamily="82" charset="0"/>
              </a:rPr>
              <a:t>  &amp; MEDICAL COST PREDICTION SYSTEM….. </a:t>
            </a:r>
            <a:endParaRPr lang="en-IN" sz="3200" b="1" dirty="0">
              <a:latin typeface="Algerian" panose="04020705040A02060702" pitchFamily="82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logo of a hospital&#10;&#10;AI-generated content may be incorrect.">
            <a:extLst>
              <a:ext uri="{FF2B5EF4-FFF2-40B4-BE49-F238E27FC236}">
                <a16:creationId xmlns:a16="http://schemas.microsoft.com/office/drawing/2014/main" id="{6B5838F8-3CB3-C1C9-8ACE-ACD78BAA2A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62" r="3" b="3"/>
          <a:stretch>
            <a:fillRect/>
          </a:stretch>
        </p:blipFill>
        <p:spPr>
          <a:xfrm>
            <a:off x="5912730" y="788354"/>
            <a:ext cx="5425410" cy="5259296"/>
          </a:xfrm>
          <a:prstGeom prst="rect">
            <a:avLst/>
          </a:prstGeom>
        </p:spPr>
      </p:pic>
      <p:pic>
        <p:nvPicPr>
          <p:cNvPr id="25" name="Content Placeholder 24" descr="Add with solid fill">
            <a:extLst>
              <a:ext uri="{FF2B5EF4-FFF2-40B4-BE49-F238E27FC236}">
                <a16:creationId xmlns:a16="http://schemas.microsoft.com/office/drawing/2014/main" id="{C695278A-E15B-D4D0-45C5-0B0327F83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5206" y="5738850"/>
            <a:ext cx="432079" cy="506647"/>
          </a:xfr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C0A36B9-E3A0-F6D1-AA56-D9C0D1EA38D4}"/>
              </a:ext>
            </a:extLst>
          </p:cNvPr>
          <p:cNvSpPr txBox="1"/>
          <p:nvPr/>
        </p:nvSpPr>
        <p:spPr>
          <a:xfrm>
            <a:off x="6091247" y="5713990"/>
            <a:ext cx="57824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Berlin Sans FB Demi" panose="020E0802020502020306" pitchFamily="34" charset="0"/>
              </a:rPr>
              <a:t>Panchal </a:t>
            </a:r>
            <a:r>
              <a:rPr lang="en-US" sz="2800" b="1" dirty="0" err="1">
                <a:latin typeface="Berlin Sans FB Demi" panose="020E0802020502020306" pitchFamily="34" charset="0"/>
              </a:rPr>
              <a:t>Multispeciality</a:t>
            </a:r>
            <a:r>
              <a:rPr lang="en-US" sz="2800" b="1" dirty="0">
                <a:latin typeface="Berlin Sans FB Demi" panose="020E0802020502020306" pitchFamily="34" charset="0"/>
              </a:rPr>
              <a:t> Hospital</a:t>
            </a:r>
            <a:endParaRPr lang="en-IN" sz="2800" dirty="0">
              <a:latin typeface="Berlin Sans FB Demi" panose="020E0802020502020306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4A2C05-349E-00CA-32A9-9D2FC98853A7}"/>
              </a:ext>
            </a:extLst>
          </p:cNvPr>
          <p:cNvSpPr txBox="1"/>
          <p:nvPr/>
        </p:nvSpPr>
        <p:spPr>
          <a:xfrm>
            <a:off x="588247" y="2378763"/>
            <a:ext cx="3913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Performance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3" name="Graphic 32" descr="Document outline">
            <a:extLst>
              <a:ext uri="{FF2B5EF4-FFF2-40B4-BE49-F238E27FC236}">
                <a16:creationId xmlns:a16="http://schemas.microsoft.com/office/drawing/2014/main" id="{C1117B2B-B5BF-5F1A-DC2F-AB72DBB605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31398" y="2424239"/>
            <a:ext cx="448782" cy="3515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47CCBC-4713-99F7-AAD3-2144A01B5E81}"/>
              </a:ext>
            </a:extLst>
          </p:cNvPr>
          <p:cNvSpPr txBox="1"/>
          <p:nvPr/>
        </p:nvSpPr>
        <p:spPr>
          <a:xfrm>
            <a:off x="588247" y="4664230"/>
            <a:ext cx="2279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Name : Vishal Panchal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98CEB-6ADA-81DD-F679-E951069137AA}"/>
              </a:ext>
            </a:extLst>
          </p:cNvPr>
          <p:cNvSpPr txBox="1"/>
          <p:nvPr/>
        </p:nvSpPr>
        <p:spPr>
          <a:xfrm>
            <a:off x="588246" y="5033562"/>
            <a:ext cx="1541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Data Scientist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072BE3-9925-6020-7B43-B1353EA15EC6}"/>
              </a:ext>
            </a:extLst>
          </p:cNvPr>
          <p:cNvSpPr txBox="1"/>
          <p:nvPr/>
        </p:nvSpPr>
        <p:spPr>
          <a:xfrm>
            <a:off x="590695" y="4288054"/>
            <a:ext cx="19379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Prepared by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244FEA-2973-1F10-1BB6-167E999F102B}"/>
              </a:ext>
            </a:extLst>
          </p:cNvPr>
          <p:cNvSpPr txBox="1"/>
          <p:nvPr/>
        </p:nvSpPr>
        <p:spPr>
          <a:xfrm>
            <a:off x="355197" y="3021568"/>
            <a:ext cx="53306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Real-time patient insights with predictive modeling to estimate healthcare costs.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8848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725A5E-8525-7616-9EAE-0B4CA9B1C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0647" y="1430335"/>
            <a:ext cx="4352925" cy="66936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r"/>
            <a:r>
              <a:rPr lang="en-US" sz="3200" b="1" kern="1200" dirty="0">
                <a:solidFill>
                  <a:schemeClr val="tx1"/>
                </a:solidFill>
                <a:latin typeface="Algerian" panose="04020705040A02060702" pitchFamily="82" charset="0"/>
              </a:rPr>
              <a:t>Project Overview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C88F0-96D1-6C34-07E5-30442B83ACF4}"/>
              </a:ext>
            </a:extLst>
          </p:cNvPr>
          <p:cNvSpPr txBox="1"/>
          <p:nvPr/>
        </p:nvSpPr>
        <p:spPr>
          <a:xfrm>
            <a:off x="4818048" y="2381781"/>
            <a:ext cx="489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Problem Statement: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B44AC-9247-F2BD-9F2D-2ED402D6D1C8}"/>
              </a:ext>
            </a:extLst>
          </p:cNvPr>
          <p:cNvSpPr txBox="1"/>
          <p:nvPr/>
        </p:nvSpPr>
        <p:spPr>
          <a:xfrm>
            <a:off x="4816468" y="2901904"/>
            <a:ext cx="6524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Predicting medical costs accurately based on patient health, lifestyle, and insurance factors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D45BA9-2EDE-886B-C078-86E00788662A}"/>
              </a:ext>
            </a:extLst>
          </p:cNvPr>
          <p:cNvSpPr txBox="1"/>
          <p:nvPr/>
        </p:nvSpPr>
        <p:spPr>
          <a:xfrm>
            <a:off x="4869357" y="4007445"/>
            <a:ext cx="4199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Project 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82A38-60FA-6B8B-4D34-2C935886794D}"/>
              </a:ext>
            </a:extLst>
          </p:cNvPr>
          <p:cNvSpPr txBox="1"/>
          <p:nvPr/>
        </p:nvSpPr>
        <p:spPr>
          <a:xfrm>
            <a:off x="4816468" y="4640763"/>
            <a:ext cx="636830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 provide cost estimation, analyze insurance impact, and generate meaningful patient insights using data analytics and machine learning.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768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DCB2EE-B58D-82C3-EE86-CD1D8030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ETL PROCESS</a:t>
            </a:r>
            <a:b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02E53A-687D-4C3E-27A3-98A30EC6CD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238" y="1508296"/>
            <a:ext cx="5302081" cy="288283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FB4DCF-CE34-6522-7F55-ACEF41F285AC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Extract</a:t>
            </a:r>
            <a:r>
              <a:rPr lang="en-US" dirty="0"/>
              <a:t> →  Data is collected from multiple sources such as CSV, XML, JSON, Excel, and SQL databases.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Transform</a:t>
            </a:r>
            <a:r>
              <a:rPr lang="en-US" dirty="0"/>
              <a:t> →  Data is cleaned and processed by handling missing values, removing duplicates, formatting data, and applying value mapping.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Load</a:t>
            </a:r>
            <a:r>
              <a:rPr lang="en-US" dirty="0"/>
              <a:t> → The final cleaned and transformed data is stored in a SQL database for analysis and reporting.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443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68EEA-4AA1-9FF9-3720-35ABA3EF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6" y="266594"/>
            <a:ext cx="3916595" cy="1167118"/>
          </a:xfrm>
        </p:spPr>
        <p:txBody>
          <a:bodyPr>
            <a:normAutofit/>
          </a:bodyPr>
          <a:lstStyle/>
          <a:p>
            <a:r>
              <a:rPr lang="en-IN" b="1" dirty="0">
                <a:latin typeface="Abadi" panose="020B0604020104020204" pitchFamily="34" charset="0"/>
              </a:rPr>
              <a:t>Data Sources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503683-5CE0-F62B-E6CF-6AD530DC3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2821" y="1296238"/>
            <a:ext cx="6891013" cy="39884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0E8E9E-09FB-BECC-8DF7-3DA6A83FFB8F}"/>
              </a:ext>
            </a:extLst>
          </p:cNvPr>
          <p:cNvSpPr txBox="1"/>
          <p:nvPr/>
        </p:nvSpPr>
        <p:spPr>
          <a:xfrm>
            <a:off x="157797" y="3428998"/>
            <a:ext cx="378675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Extract -</a:t>
            </a:r>
            <a:endParaRPr lang="en-IN" sz="2400" dirty="0"/>
          </a:p>
          <a:p>
            <a:r>
              <a:rPr lang="en-IN" dirty="0"/>
              <a:t>CSV (Hospital Visits, Lab Tests) </a:t>
            </a:r>
          </a:p>
          <a:p>
            <a:r>
              <a:rPr lang="en-IN" dirty="0"/>
              <a:t>XML (Hospital, Patient Data) </a:t>
            </a:r>
          </a:p>
          <a:p>
            <a:r>
              <a:rPr lang="en-IN" dirty="0"/>
              <a:t>Excel (Lifestyle Data) </a:t>
            </a:r>
          </a:p>
          <a:p>
            <a:r>
              <a:rPr lang="en-IN" dirty="0"/>
              <a:t>JSON (Medical Billing, History) </a:t>
            </a:r>
          </a:p>
          <a:p>
            <a:r>
              <a:rPr lang="en-IN" dirty="0"/>
              <a:t>SQL (Insurance Data) </a:t>
            </a:r>
          </a:p>
          <a:p>
            <a:r>
              <a:rPr lang="en-IN" dirty="0"/>
              <a:t>TEXT (Prescription)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AF127-F659-C1C2-1935-E5E8B02201D7}"/>
              </a:ext>
            </a:extLst>
          </p:cNvPr>
          <p:cNvSpPr txBox="1"/>
          <p:nvPr/>
        </p:nvSpPr>
        <p:spPr>
          <a:xfrm>
            <a:off x="125336" y="1182229"/>
            <a:ext cx="38516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These are the different data sources used in the project, including CSV, XML, JSON, Excel, and SQL databases."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1482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553D75-637E-8310-402D-F69D37B8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120" y="278535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Abadi" panose="020B0604020104020204" pitchFamily="34" charset="0"/>
              </a:rPr>
              <a:t>Transform - Data Cleaning Steps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3CFACB8-9815-A57B-5772-ADF44E9B4E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4563" y="2318197"/>
            <a:ext cx="10741067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Select Values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Selects required columns and removes unnecessary fields.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Replace in String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Replaces incorrect or unwanted characters in text data.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String Operations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Standardizes text using functions like UPPER, LOWER, and TRIM.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Value Mapper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Converts categorical values into a consistent format.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Handle NULL Values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Replaces or manages missing data appropriately.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Remove Duplicates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Eliminates duplicate records to ensure data uniqueness.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Sorting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Arranges data in a structured and meaningful order. </a:t>
            </a:r>
          </a:p>
        </p:txBody>
      </p:sp>
    </p:spTree>
    <p:extLst>
      <p:ext uri="{BB962C8B-B14F-4D97-AF65-F5344CB8AC3E}">
        <p14:creationId xmlns:p14="http://schemas.microsoft.com/office/powerpoint/2010/main" val="27941032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46226-77F4-4EFA-5163-F401FAD2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Data Loading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0F26D-13B2-D4CC-36DF-CFDBB5F15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920343"/>
            <a:ext cx="10515600" cy="962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Cleaned data is loaded into a SQL database and structured into multiple tables for analysis and reporting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39CCC-1363-E1CE-707B-2B74D7B84C27}"/>
              </a:ext>
            </a:extLst>
          </p:cNvPr>
          <p:cNvSpPr txBox="1"/>
          <p:nvPr/>
        </p:nvSpPr>
        <p:spPr>
          <a:xfrm>
            <a:off x="755781" y="2883159"/>
            <a:ext cx="51131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cleaned and transformed data is loaded into a SQL database.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4DA763-0075-75FD-6BB3-DA7497BC3D7D}"/>
              </a:ext>
            </a:extLst>
          </p:cNvPr>
          <p:cNvSpPr txBox="1"/>
          <p:nvPr/>
        </p:nvSpPr>
        <p:spPr>
          <a:xfrm>
            <a:off x="755781" y="3625526"/>
            <a:ext cx="4879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is organized into multiple structured tables such as Patient, Hospital, Billing, and others.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23446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D732F3-58E4-7EB5-C0B2-C7DAD4A7D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This diagram represents the ETL transformation workflow implemented using Pentaho, where data is cleaned, processed, and loaded into the database.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D7BEFF4-64C8-C5FB-95AC-47DD937D5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9550" y="457200"/>
            <a:ext cx="8172450" cy="604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9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8A6F1-2EA5-3FC3-E859-587588C02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46" y="9248"/>
            <a:ext cx="11348847" cy="1300554"/>
          </a:xfrm>
        </p:spPr>
        <p:txBody>
          <a:bodyPr anchor="b">
            <a:normAutofit/>
          </a:bodyPr>
          <a:lstStyle/>
          <a:p>
            <a:r>
              <a:rPr lang="en-US" sz="3000" b="1" dirty="0">
                <a:latin typeface="Abadi" panose="020B0604020104020204" pitchFamily="34" charset="0"/>
              </a:rPr>
              <a:t>This ER diagram shows how different entities in the database are related using primary and foreign keys.</a:t>
            </a:r>
            <a:endParaRPr lang="en-IN" sz="3000" b="1" dirty="0">
              <a:latin typeface="Abadi" panose="020B0604020104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3C21AA4-A663-7F41-72B7-A213746DA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4876" y="2381250"/>
            <a:ext cx="6448424" cy="38862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09809-D7AA-882D-7E74-85664EDBE579}"/>
              </a:ext>
            </a:extLst>
          </p:cNvPr>
          <p:cNvSpPr txBox="1"/>
          <p:nvPr/>
        </p:nvSpPr>
        <p:spPr>
          <a:xfrm>
            <a:off x="228600" y="2381250"/>
            <a:ext cx="4266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1) Defines the overall database design and organization.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3656C2-2B01-7568-65F4-231F6AA9E6B6}"/>
              </a:ext>
            </a:extLst>
          </p:cNvPr>
          <p:cNvSpPr txBox="1"/>
          <p:nvPr/>
        </p:nvSpPr>
        <p:spPr>
          <a:xfrm>
            <a:off x="228600" y="3105113"/>
            <a:ext cx="3971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2) Visualizes how different entities are interconnected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841DA6-986E-AFD6-5F3F-C90534B27D0F}"/>
              </a:ext>
            </a:extLst>
          </p:cNvPr>
          <p:cNvSpPr txBox="1"/>
          <p:nvPr/>
        </p:nvSpPr>
        <p:spPr>
          <a:xfrm>
            <a:off x="252619" y="3817191"/>
            <a:ext cx="3971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3) Covers major entities such as Patient, Hospital, Billing, and Insurance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CCAF72-6472-5E65-FB01-A73FD5ABCB4D}"/>
              </a:ext>
            </a:extLst>
          </p:cNvPr>
          <p:cNvSpPr txBox="1"/>
          <p:nvPr/>
        </p:nvSpPr>
        <p:spPr>
          <a:xfrm>
            <a:off x="252619" y="4572000"/>
            <a:ext cx="4324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4) Maintains relationships through primary and foreign key constraints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2939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17FD7-7EF7-D608-4524-F25162D71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u="sng" kern="1200" dirty="0">
                <a:solidFill>
                  <a:schemeClr val="tx1"/>
                </a:solidFill>
                <a:latin typeface="Abadi" panose="020B0604020104020204" pitchFamily="34" charset="0"/>
              </a:rPr>
              <a:t>Count of Patient by Visit Reason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4F684B-D97D-D19C-A0BF-4826990E84E4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Shows the number of patients based on different visit reasons 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Helps identify the most common medical concerns (Checkup, Fever, Heart Pain, Diabetes , Injury)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8890C58-C442-3018-7AFC-F1D96F65A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7623" y="2020808"/>
            <a:ext cx="5802902" cy="281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00770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94CB6-87CE-C5B6-97E1-4CEBE021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b="1" u="sng">
                <a:latin typeface="Algerian" panose="04020705040A02060702" pitchFamily="82" charset="0"/>
              </a:rPr>
              <a:t>Count of Allergies by City </a:t>
            </a:r>
            <a:r>
              <a:rPr lang="en-IN" b="1" u="sng">
                <a:latin typeface="Algerian" panose="04020705040A02060702" pitchFamily="82" charset="0"/>
              </a:rPr>
              <a:t>….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F30AA-7231-78AE-DC8F-8C2880CBE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/>
              <a:t>Heading: City – Wise Allergies Patient Count .</a:t>
            </a:r>
          </a:p>
          <a:p>
            <a:pPr marL="0" indent="0">
              <a:buNone/>
            </a:pPr>
            <a:r>
              <a:rPr lang="en-IN" sz="2000" b="1"/>
              <a:t>Chart :</a:t>
            </a:r>
          </a:p>
          <a:p>
            <a:r>
              <a:rPr lang="en-US" sz="2000"/>
              <a:t>Displays the number of allergy cases across different cities</a:t>
            </a:r>
            <a:endParaRPr lang="en-IN" sz="2000"/>
          </a:p>
          <a:p>
            <a:r>
              <a:rPr lang="en-US" sz="2000"/>
              <a:t>Helps identify cities with higher prevalence of allergies.</a:t>
            </a:r>
          </a:p>
          <a:p>
            <a:r>
              <a:rPr lang="en-US" sz="2000"/>
              <a:t>Supports location-based healthcare analysis and decision-making</a:t>
            </a:r>
            <a:endParaRPr lang="en-IN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3A8853-D9CB-C9A2-5467-1C2E6B4B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558" y="2485711"/>
            <a:ext cx="4788505" cy="2310454"/>
          </a:xfrm>
          <a:prstGeom prst="rect">
            <a:avLst/>
          </a:prstGeom>
        </p:spPr>
      </p:pic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9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6EC637-AB4D-3CD3-87B9-E49D58934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u="sng" dirty="0">
                <a:latin typeface="Abadi" panose="020B0604020104020204" pitchFamily="34" charset="0"/>
              </a:rPr>
              <a:t>This chart shows the gender-wise distribution of patients, helping in understanding demographic patterns.</a:t>
            </a:r>
            <a:endParaRPr lang="en-IN" sz="3000" b="1" u="sng" dirty="0">
              <a:latin typeface="Abadi" panose="020B0604020104020204" pitchFamily="34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030071D-BE49-2D08-D5E4-BF800F5B3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2436" y="2262909"/>
            <a:ext cx="5576081" cy="35005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CFB7EA-42FE-6A1E-FAA4-C36B64FC48C4}"/>
              </a:ext>
            </a:extLst>
          </p:cNvPr>
          <p:cNvSpPr txBox="1"/>
          <p:nvPr/>
        </p:nvSpPr>
        <p:spPr>
          <a:xfrm>
            <a:off x="514350" y="2262909"/>
            <a:ext cx="4486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Displays the distribution of patients based on gender (Male and Female)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D0FA9-0DD7-6EEC-1031-64F34E4A60C5}"/>
              </a:ext>
            </a:extLst>
          </p:cNvPr>
          <p:cNvSpPr txBox="1"/>
          <p:nvPr/>
        </p:nvSpPr>
        <p:spPr>
          <a:xfrm>
            <a:off x="514350" y="3018736"/>
            <a:ext cx="410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Helps compare the number of male and female patients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145AB-5B25-877F-F86C-053B29E67545}"/>
              </a:ext>
            </a:extLst>
          </p:cNvPr>
          <p:cNvSpPr txBox="1"/>
          <p:nvPr/>
        </p:nvSpPr>
        <p:spPr>
          <a:xfrm>
            <a:off x="514350" y="3803138"/>
            <a:ext cx="39483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Provides insights into gender-wise patient demographics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5153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C6B346-A822-3BCC-BDEB-5E30759E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96" y="1014884"/>
            <a:ext cx="11048872" cy="11756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kern="1200" dirty="0">
                <a:solidFill>
                  <a:schemeClr val="tx1"/>
                </a:solidFill>
                <a:latin typeface="Abadi" panose="020B0604020104020204" pitchFamily="34" charset="0"/>
              </a:rPr>
              <a:t>The distribution is almost balanced, indicating comparable proportions of smokers and non-smokers in the dataset.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D9B47A-C16A-2404-0CCD-803F837DF3BD}"/>
              </a:ext>
            </a:extLst>
          </p:cNvPr>
          <p:cNvSpPr txBox="1"/>
          <p:nvPr/>
        </p:nvSpPr>
        <p:spPr>
          <a:xfrm>
            <a:off x="540296" y="2190541"/>
            <a:ext cx="5066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Represents the proportion of patients based on smoking status (Yes/No)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34A94-7328-4B6C-B196-D3A0207BBF35}"/>
              </a:ext>
            </a:extLst>
          </p:cNvPr>
          <p:cNvSpPr txBox="1"/>
          <p:nvPr/>
        </p:nvSpPr>
        <p:spPr>
          <a:xfrm>
            <a:off x="567774" y="2936027"/>
            <a:ext cx="4486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Provides a clear comparison between smokers and non-smokers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DE47C6-0E01-4851-2323-CCCADFA2AC8E}"/>
              </a:ext>
            </a:extLst>
          </p:cNvPr>
          <p:cNvSpPr txBox="1"/>
          <p:nvPr/>
        </p:nvSpPr>
        <p:spPr>
          <a:xfrm>
            <a:off x="567774" y="3694658"/>
            <a:ext cx="4311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Helps in analyzing lifestyle factors affecting patient health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43D5A2-FF5B-B25D-0BF5-EB3EF14D6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687" y="2231963"/>
            <a:ext cx="5626087" cy="292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9509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96F36-26E8-9D97-5885-DBA588E66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4" y="1463041"/>
            <a:ext cx="4752971" cy="892552"/>
          </a:xfrm>
        </p:spPr>
        <p:txBody>
          <a:bodyPr anchor="t">
            <a:normAutofit/>
          </a:bodyPr>
          <a:lstStyle/>
          <a:p>
            <a:r>
              <a:rPr lang="en-US" sz="2400" dirty="0"/>
              <a:t>Displays the distribution of insured patients across gender categories</a:t>
            </a:r>
            <a:endParaRPr lang="en-IN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4A175FA-D0E4-4641-42B4-E0D5601EC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7699" y="1809750"/>
            <a:ext cx="5534025" cy="34750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F24A14-4226-C285-38AC-6D218B5E238E}"/>
              </a:ext>
            </a:extLst>
          </p:cNvPr>
          <p:cNvSpPr txBox="1"/>
          <p:nvPr/>
        </p:nvSpPr>
        <p:spPr>
          <a:xfrm>
            <a:off x="209667" y="156942"/>
            <a:ext cx="1176805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u="sng" dirty="0">
                <a:latin typeface="Abadi" panose="020B0604020104020204" pitchFamily="34" charset="0"/>
              </a:rPr>
              <a:t>This chart highlights gender-wise insurance coverage, showing that female patients have slightly higher insurance coverage compared to male patients</a:t>
            </a:r>
            <a:endParaRPr lang="en-IN" sz="2600" b="1" u="sng" dirty="0">
              <a:latin typeface="Abadi" panose="020B06040201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2EE7F-6CCB-8AD4-B9A0-4448C6387421}"/>
              </a:ext>
            </a:extLst>
          </p:cNvPr>
          <p:cNvSpPr txBox="1"/>
          <p:nvPr/>
        </p:nvSpPr>
        <p:spPr>
          <a:xfrm>
            <a:off x="123824" y="2278150"/>
            <a:ext cx="44836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Compares insurance coverage between male and female patients</a:t>
            </a:r>
            <a:endParaRPr lang="en-IN" sz="24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1BE25E-E2E9-7C72-E893-BB9CD0C42CA8}"/>
              </a:ext>
            </a:extLst>
          </p:cNvPr>
          <p:cNvSpPr txBox="1"/>
          <p:nvPr/>
        </p:nvSpPr>
        <p:spPr>
          <a:xfrm>
            <a:off x="123824" y="3170704"/>
            <a:ext cx="43789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Helps identify gender-based differences in insurance utilization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49899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C8CB7-11B3-772A-9BB9-F69A6767D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563" y="0"/>
            <a:ext cx="10483658" cy="1044173"/>
          </a:xfrm>
        </p:spPr>
        <p:txBody>
          <a:bodyPr anchor="b">
            <a:normAutofit/>
          </a:bodyPr>
          <a:lstStyle/>
          <a:p>
            <a:r>
              <a:rPr lang="en-US" sz="3000" b="1" u="sng" dirty="0">
                <a:latin typeface="Abadi" panose="020B0604020104020204" pitchFamily="34" charset="0"/>
              </a:rPr>
              <a:t>Compares patient distribution across insurance providers to identify the most utilized insurance services</a:t>
            </a:r>
            <a:r>
              <a:rPr lang="en-US" sz="3000" b="1" dirty="0">
                <a:latin typeface="Abadi" panose="020B0604020104020204" pitchFamily="34" charset="0"/>
              </a:rPr>
              <a:t>.</a:t>
            </a:r>
            <a:endParaRPr lang="en-IN" sz="3000" b="1" dirty="0">
              <a:latin typeface="Abadi" panose="020B0604020104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09A0A6-D481-8596-8373-AA173F114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0752" y="2098325"/>
            <a:ext cx="4855068" cy="3110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153B20-BF85-1400-1527-90979B3F4EED}"/>
              </a:ext>
            </a:extLst>
          </p:cNvPr>
          <p:cNvSpPr txBox="1"/>
          <p:nvPr/>
        </p:nvSpPr>
        <p:spPr>
          <a:xfrm>
            <a:off x="853120" y="2096626"/>
            <a:ext cx="5174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i) Shows how patients are distributed across different insurance providers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493D8-E33C-6FB3-77ED-E1E6E52CBE88}"/>
              </a:ext>
            </a:extLst>
          </p:cNvPr>
          <p:cNvSpPr txBox="1"/>
          <p:nvPr/>
        </p:nvSpPr>
        <p:spPr>
          <a:xfrm>
            <a:off x="853120" y="3006286"/>
            <a:ext cx="48550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ii) Highlights the most preferred insurance companies among patients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7F9724-8DBB-5A9B-3E2B-3D6859F87A64}"/>
              </a:ext>
            </a:extLst>
          </p:cNvPr>
          <p:cNvSpPr txBox="1"/>
          <p:nvPr/>
        </p:nvSpPr>
        <p:spPr>
          <a:xfrm>
            <a:off x="853120" y="3924928"/>
            <a:ext cx="4996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iii) Helps analyze provider-wise coverage and market preference trends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846350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BC736-EA57-F534-3DCA-DB8006EB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621" y="238999"/>
            <a:ext cx="5929328" cy="1443038"/>
          </a:xfrm>
        </p:spPr>
        <p:txBody>
          <a:bodyPr>
            <a:normAutofit/>
          </a:bodyPr>
          <a:lstStyle/>
          <a:p>
            <a:r>
              <a:rPr lang="en-IN" b="1" u="sng" dirty="0">
                <a:latin typeface="Abadi" panose="020B0604020104020204" pitchFamily="34" charset="0"/>
              </a:rPr>
              <a:t>Dataset for Machine Learning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6CE03388-6C50-1C46-3A80-1449455F0C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7361" y="1921036"/>
          <a:ext cx="5558489" cy="4123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999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79244-2FB2-55C0-2D7D-368C41607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2600" b="1">
                <a:latin typeface="Aptos SemiBold" panose="020B0004020202020204" pitchFamily="34" charset="0"/>
              </a:rPr>
              <a:t>This chart shows that cost-related and insurance-related features have the highest impact on the model, while variables like smoking status and hospital type contribute less.</a:t>
            </a:r>
            <a:endParaRPr lang="en-IN" sz="2600" b="1">
              <a:latin typeface="Aptos SemiBold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87B031-EDFB-B1CB-E399-1A88F5971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2830316"/>
            <a:ext cx="5150277" cy="310304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BFFBE5-6BE3-9BB9-B3A9-EF662C3C4E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9838241"/>
              </p:ext>
            </p:extLst>
          </p:nvPr>
        </p:nvGraphicFramePr>
        <p:xfrm>
          <a:off x="6406429" y="2599509"/>
          <a:ext cx="4530898" cy="363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2737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5149F0-508A-B0F7-63E1-DC0AB241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3700" b="1"/>
              <a:t>Analyzes the distribution and variability of the target variable to detect outliers and data spread</a:t>
            </a:r>
            <a:r>
              <a:rPr lang="en-US" sz="3700"/>
              <a:t>.</a:t>
            </a:r>
            <a:endParaRPr lang="en-IN" sz="3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DCA8D6-C342-BFFE-B812-9AF878E71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24" y="2389218"/>
            <a:ext cx="5150277" cy="320875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247C20C-F649-5644-014E-A601FF16E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124" y="2392022"/>
            <a:ext cx="4530898" cy="3369046"/>
          </a:xfrm>
        </p:spPr>
        <p:txBody>
          <a:bodyPr anchor="ctr">
            <a:normAutofit/>
          </a:bodyPr>
          <a:lstStyle/>
          <a:p>
            <a:r>
              <a:rPr lang="en-US" sz="2200" dirty="0"/>
              <a:t>Visualizes the distribution of the target variable (Total Amount).</a:t>
            </a:r>
          </a:p>
          <a:p>
            <a:endParaRPr lang="en-US" sz="2200" dirty="0"/>
          </a:p>
          <a:p>
            <a:r>
              <a:rPr lang="en-US" sz="2400" dirty="0"/>
              <a:t>Shows median, quartiles, and overall data spread.</a:t>
            </a:r>
          </a:p>
          <a:p>
            <a:endParaRPr lang="en-US" sz="2400" dirty="0"/>
          </a:p>
          <a:p>
            <a:r>
              <a:rPr lang="en-US" sz="2400" dirty="0"/>
              <a:t>Helps identify outliers and variability in medical costs </a:t>
            </a:r>
          </a:p>
          <a:p>
            <a:endParaRPr lang="en-US" sz="2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C1E3C-1B72-4E33-35D4-7D5A068579A4}"/>
              </a:ext>
            </a:extLst>
          </p:cNvPr>
          <p:cNvSpPr txBox="1"/>
          <p:nvPr/>
        </p:nvSpPr>
        <p:spPr>
          <a:xfrm>
            <a:off x="635295" y="5888334"/>
            <a:ext cx="10498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Outliers indicate extreme medical expenses which may affect model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92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DDC6B3-597A-892A-245D-5B8F919B4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 b="1" u="sng" dirty="0">
                <a:latin typeface="Abadi" panose="020B0604020104020204" pitchFamily="34" charset="0"/>
              </a:rPr>
              <a:t>Evaluates model accuracy by comparing actual and predicted values.</a:t>
            </a:r>
            <a:endParaRPr lang="en-IN" sz="3700" b="1" u="sng" dirty="0">
              <a:latin typeface="Abadi" panose="020B0604020104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F1B07522-8287-DF7E-17FA-229935274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09" y="2981363"/>
            <a:ext cx="5747457" cy="2914080"/>
          </a:xfrm>
        </p:spPr>
        <p:txBody>
          <a:bodyPr>
            <a:normAutofit/>
          </a:bodyPr>
          <a:lstStyle/>
          <a:p>
            <a:r>
              <a:rPr lang="en-US" sz="2400" dirty="0"/>
              <a:t>Compares actual values with model-predicted values to evaluate performance.</a:t>
            </a:r>
          </a:p>
          <a:p>
            <a:r>
              <a:rPr lang="en-US" sz="2400" dirty="0"/>
              <a:t>Shows how closely the predictions align with real data points.</a:t>
            </a:r>
          </a:p>
          <a:p>
            <a:r>
              <a:rPr lang="en-US" sz="2400" dirty="0"/>
              <a:t>Helps assess the accuracy and reliability of the machine learning model.</a:t>
            </a:r>
            <a:endParaRPr lang="en-IN" sz="2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9E422D-1FE6-F45B-478F-66B6BDBC8167}"/>
              </a:ext>
            </a:extLst>
          </p:cNvPr>
          <p:cNvSpPr txBox="1"/>
          <p:nvPr/>
        </p:nvSpPr>
        <p:spPr>
          <a:xfrm>
            <a:off x="558209" y="2222318"/>
            <a:ext cx="59644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Model Performance: Actual vs Predicted Analysis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3BFDD65-CCCD-3717-830D-5F93F7B20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666" y="2567446"/>
            <a:ext cx="5641424" cy="403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57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BB447-175E-CE02-619F-13AD5314F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800100"/>
            <a:ext cx="4805996" cy="119062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100" b="1" kern="1200" dirty="0">
                <a:solidFill>
                  <a:schemeClr val="tx2"/>
                </a:solidFill>
                <a:latin typeface="Abadi" panose="020B0604020104020204" pitchFamily="34" charset="0"/>
              </a:rPr>
              <a:t>Evaluates model accuracy and prediction performance</a:t>
            </a:r>
            <a:r>
              <a:rPr lang="en-US" sz="31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30" name="Graphic 29" descr="Bar chart">
            <a:extLst>
              <a:ext uri="{FF2B5EF4-FFF2-40B4-BE49-F238E27FC236}">
                <a16:creationId xmlns:a16="http://schemas.microsoft.com/office/drawing/2014/main" id="{99EC89F1-0BFF-C42C-48BE-1800EFB753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A73CF6A-0DAB-393E-A0B4-EAA706FF9E9D}"/>
              </a:ext>
            </a:extLst>
          </p:cNvPr>
          <p:cNvSpPr txBox="1"/>
          <p:nvPr/>
        </p:nvSpPr>
        <p:spPr>
          <a:xfrm>
            <a:off x="6619152" y="2066925"/>
            <a:ext cx="422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performance evaluated using prediction results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C71FC-DDDD-A443-DCF6-B2853F2B926D}"/>
              </a:ext>
            </a:extLst>
          </p:cNvPr>
          <p:cNvSpPr txBox="1"/>
          <p:nvPr/>
        </p:nvSpPr>
        <p:spPr>
          <a:xfrm>
            <a:off x="6619152" y="2797108"/>
            <a:ext cx="3381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MAE indicates the average prediction error in medical cost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E572FE-7F3E-F9F9-6CED-1F01B547EFF2}"/>
              </a:ext>
            </a:extLst>
          </p:cNvPr>
          <p:cNvSpPr txBox="1"/>
          <p:nvPr/>
        </p:nvSpPr>
        <p:spPr>
          <a:xfrm>
            <a:off x="6619152" y="3598444"/>
            <a:ext cx="35344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model shows acceptable performance with scope for further improvement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5643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CB29E1-2590-D955-0BA6-CAD1D7293E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66" r="15517" b="-1"/>
          <a:stretch>
            <a:fillRect/>
          </a:stretch>
        </p:blipFill>
        <p:spPr>
          <a:xfrm rot="10800000" flipH="1" flipV="1">
            <a:off x="0" y="10"/>
            <a:ext cx="8620125" cy="685799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DFE810-BE41-9B21-E516-89DCFBF9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b="1" u="sng" dirty="0"/>
              <a:t>Medical Cost Prediction System</a:t>
            </a:r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41588CE4-05A2-8C08-8857-96DB490CC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75" y="6282291"/>
            <a:ext cx="6094476" cy="747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This makes the system user-friendly and applicable in real-world healthcare scenarios.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425337-D0C2-1CAB-903D-931F542BDC77}"/>
              </a:ext>
            </a:extLst>
          </p:cNvPr>
          <p:cNvSpPr txBox="1"/>
          <p:nvPr/>
        </p:nvSpPr>
        <p:spPr>
          <a:xfrm>
            <a:off x="7531610" y="2494814"/>
            <a:ext cx="3822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User inputs patient </a:t>
            </a:r>
            <a:r>
              <a:rPr lang="fr-FR" dirty="0" err="1"/>
              <a:t>details</a:t>
            </a:r>
            <a:r>
              <a:rPr lang="fr-FR" dirty="0"/>
              <a:t> (Age, BMI, </a:t>
            </a:r>
            <a:r>
              <a:rPr lang="fr-FR" dirty="0" err="1"/>
              <a:t>Insurance</a:t>
            </a:r>
            <a:r>
              <a:rPr lang="fr-FR" dirty="0"/>
              <a:t>, etc.)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A90A63-B806-BE38-4695-FA587CC1A42B}"/>
              </a:ext>
            </a:extLst>
          </p:cNvPr>
          <p:cNvSpPr txBox="1"/>
          <p:nvPr/>
        </p:nvSpPr>
        <p:spPr>
          <a:xfrm>
            <a:off x="7531610" y="3304168"/>
            <a:ext cx="3448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predicts medical cost in real-time.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50792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Pen placed on top of a signature line">
            <a:extLst>
              <a:ext uri="{FF2B5EF4-FFF2-40B4-BE49-F238E27FC236}">
                <a16:creationId xmlns:a16="http://schemas.microsoft.com/office/drawing/2014/main" id="{7C7ED553-267A-263C-0EC3-9F2EC882B4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EC218-A775-0C95-6821-7EE265ABF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161" y="183307"/>
            <a:ext cx="4697063" cy="1899912"/>
          </a:xfrm>
        </p:spPr>
        <p:txBody>
          <a:bodyPr>
            <a:normAutofit/>
          </a:bodyPr>
          <a:lstStyle/>
          <a:p>
            <a:r>
              <a:rPr lang="en-IN" sz="3700" u="sng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 Recommendations</a:t>
            </a:r>
          </a:p>
        </p:txBody>
      </p:sp>
      <p:sp>
        <p:nvSpPr>
          <p:cNvPr id="38" name="Rectangle 1">
            <a:extLst>
              <a:ext uri="{FF2B5EF4-FFF2-40B4-BE49-F238E27FC236}">
                <a16:creationId xmlns:a16="http://schemas.microsoft.com/office/drawing/2014/main" id="{7F8BEDCE-1ABB-A209-D526-BEF0F7C303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8125" y="1749100"/>
            <a:ext cx="7639050" cy="49255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Recommendations:-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914400" lvl="1" indent="-457200" eaLnBrk="0" fontAlgn="base" hangingPunct="0"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2000" dirty="0"/>
              <a:t>Improve model accuracy using advanced algorithms Random Forest.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2 . </a:t>
            </a:r>
            <a:r>
              <a:rPr lang="en-US" sz="2000" dirty="0"/>
              <a:t>Perform feature engineering to enhance prediction quality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3 . </a:t>
            </a:r>
            <a:r>
              <a:rPr lang="en-US" altLang="en-US" sz="2000" dirty="0">
                <a:latin typeface="Arial" panose="020B0604020202020204" pitchFamily="34" charset="0"/>
              </a:rPr>
              <a:t>Increase dataset size to improve model performance and reliability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4. Incorporate additional features such as patient medical history and lifestyle factors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5. </a:t>
            </a:r>
            <a:r>
              <a:rPr lang="en-US" sz="2000" dirty="0"/>
              <a:t>Deploy the model as a web application for real-world use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1843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FAECE0-AABF-7248-D6F2-ED005BF4B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sz="5400" b="1">
                <a:solidFill>
                  <a:srgbClr val="FFFFFF"/>
                </a:solidFill>
              </a:rPr>
              <a:t>Thank You </a:t>
            </a:r>
            <a:endParaRPr lang="en-IN" sz="5400" b="1" dirty="0">
              <a:solidFill>
                <a:srgbClr val="FFFFFF"/>
              </a:solidFill>
            </a:endParaRPr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091FE0A1-A5D4-7230-9E3D-BD3C968413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47308" y="591344"/>
          <a:ext cx="6906491" cy="5585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333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A83B5FC-471F-4DEB-8F0B-355320F47B31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534</TotalTime>
  <Words>1061</Words>
  <Application>Microsoft Office PowerPoint</Application>
  <PresentationFormat>Widescreen</PresentationFormat>
  <Paragraphs>115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Abadi</vt:lpstr>
      <vt:lpstr>Algerian</vt:lpstr>
      <vt:lpstr>Aptos</vt:lpstr>
      <vt:lpstr>Aptos SemiBold</vt:lpstr>
      <vt:lpstr>Arial</vt:lpstr>
      <vt:lpstr>Berlin Sans FB Demi</vt:lpstr>
      <vt:lpstr>Calibri</vt:lpstr>
      <vt:lpstr>Calibri Light</vt:lpstr>
      <vt:lpstr>Office 2013 - 2022 Theme</vt:lpstr>
      <vt:lpstr>HEALTHCARE aNALYTIC  &amp; MEDICAL COST PREDICTION SYSTEM….. </vt:lpstr>
      <vt:lpstr>Project Overview </vt:lpstr>
      <vt:lpstr>ETL PROCESS </vt:lpstr>
      <vt:lpstr>Data Sources</vt:lpstr>
      <vt:lpstr>Transform - Data Cleaning Steps</vt:lpstr>
      <vt:lpstr>Data Loading</vt:lpstr>
      <vt:lpstr>This diagram represents the ETL transformation workflow implemented using Pentaho, where data is cleaned, processed, and loaded into the database.</vt:lpstr>
      <vt:lpstr>This ER diagram shows how different entities in the database are related using primary and foreign keys.</vt:lpstr>
      <vt:lpstr>Count of Patient by Visit Reason</vt:lpstr>
      <vt:lpstr>Count of Allergies by City …. </vt:lpstr>
      <vt:lpstr>This chart shows the gender-wise distribution of patients, helping in understanding demographic patterns.</vt:lpstr>
      <vt:lpstr>The distribution is almost balanced, indicating comparable proportions of smokers and non-smokers in the dataset.</vt:lpstr>
      <vt:lpstr>Displays the distribution of insured patients across gender categories</vt:lpstr>
      <vt:lpstr>Compares patient distribution across insurance providers to identify the most utilized insurance services.</vt:lpstr>
      <vt:lpstr>Dataset for Machine Learning</vt:lpstr>
      <vt:lpstr>This chart shows that cost-related and insurance-related features have the highest impact on the model, while variables like smoking status and hospital type contribute less.</vt:lpstr>
      <vt:lpstr>Analyzes the distribution and variability of the target variable to detect outliers and data spread.</vt:lpstr>
      <vt:lpstr>Evaluates model accuracy by comparing actual and predicted values.</vt:lpstr>
      <vt:lpstr>Evaluates model accuracy and prediction performance.</vt:lpstr>
      <vt:lpstr>Medical Cost Prediction System</vt:lpstr>
      <vt:lpstr> Recommendations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panchal</dc:creator>
  <cp:lastModifiedBy>Vishal panchal</cp:lastModifiedBy>
  <cp:revision>15</cp:revision>
  <dcterms:created xsi:type="dcterms:W3CDTF">2025-07-30T01:07:04Z</dcterms:created>
  <dcterms:modified xsi:type="dcterms:W3CDTF">2026-04-14T08:33:48Z</dcterms:modified>
</cp:coreProperties>
</file>